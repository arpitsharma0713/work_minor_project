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8CAE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0E0E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Auto Email
Detect</c:v>
                  </c:pt>
                  <c:pt idx="1">
                    <c:v>High
Priority</c:v>
                  </c:pt>
                  <c:pt idx="2">
                    <c:v>Medium
Priority</c:v>
                  </c:pt>
                  <c:pt idx="3">
                    <c:v>Low
Priority</c:v>
                  </c:pt>
                  <c:pt idx="4">
                    <c:v>Requires
Response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0.92</c:v>
                </c:pt>
                <c:pt idx="1">
                  <c:v>0.84</c:v>
                </c:pt>
                <c:pt idx="2">
                  <c:v>0.8</c:v>
                </c:pt>
                <c:pt idx="3">
                  <c:v>0.83</c:v>
                </c:pt>
                <c:pt idx="4">
                  <c:v>0.85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23E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Daily
Short</c:v>
                  </c:pt>
                  <c:pt idx="1">
                    <c:v>Daily
Long</c:v>
                  </c:pt>
                  <c:pt idx="2">
                    <c:v>Weekly
&lt;100</c:v>
                  </c:pt>
                  <c:pt idx="3">
                    <c:v>Weekly
&gt;100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</c:v>
                </c:pt>
                <c:pt idx="1">
                  <c:v>4.2</c:v>
                </c:pt>
                <c:pt idx="2">
                  <c:v>4</c:v>
                </c:pt>
                <c:pt idx="3">
                  <c:v>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Usefulness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Daily
Short</c:v>
                  </c:pt>
                  <c:pt idx="1">
                    <c:v>Daily
Long</c:v>
                  </c:pt>
                  <c:pt idx="2">
                    <c:v>Weekly
&lt;100</c:v>
                  </c:pt>
                  <c:pt idx="3">
                    <c:v>Weekly
&gt;100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4.5</c:v>
                </c:pt>
                <c:pt idx="1">
                  <c:v>4.3</c:v>
                </c:pt>
                <c:pt idx="2">
                  <c:v>4.1</c:v>
                </c:pt>
                <c:pt idx="3">
                  <c:v>3.9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52E4A">
              <a:alpha val="60000"/>
            </a:srgbClr>
          </a:solidFill>
          <a:ln w="12700">
            <a:solidFill>
              <a:srgbClr val="05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Desk Agent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Integrated Platform for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Calendar &amp; Collaboration Management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5029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Maheshwari (221030454)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67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Vani Sharma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Jaypee University of Information Technology, Waknaghat  |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91440" cy="1691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2527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No Intelligent Email Prioritisation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6459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Focused Inbox offers binary sorting only — no actionability signal, no urgency reasoning.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91440" cy="1691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2527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No Teams Chat Summarisation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6459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after a meeting or weekend means scrolling through hundreds of messages to find action items.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63240"/>
            <a:ext cx="91440" cy="1691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31729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Constant Context Switching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" y="35661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alternate between Outlook and Teams continuously, losing mental state each 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63240"/>
            <a:ext cx="91440" cy="1691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31729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No Natural Language Query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5661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what a colleague asked or finding a project email requires keyword searches, not meaning-based retrieval.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Desk Agent — Solution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interface. Powered by AI. Built on Microsoft 365.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993392" cy="3474720"/>
          </a:xfrm>
          <a:prstGeom prst="rect">
            <a:avLst/>
          </a:prstGeom>
          <a:solidFill>
            <a:srgbClr val="0077B6">
              <a:alpha val="8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1993392" cy="7315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630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Module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81051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AI-classifies every email into High / Medium / Low priority. Flags emails needing a response. Filters automated noise.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325880"/>
            <a:ext cx="1993392" cy="3474720"/>
          </a:xfrm>
          <a:prstGeom prst="rect">
            <a:avLst/>
          </a:prstGeom>
          <a:solidFill>
            <a:srgbClr val="0096C7">
              <a:alpha val="8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325880"/>
            <a:ext cx="1993392" cy="7315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2" name="Text 10"/>
          <p:cNvSpPr/>
          <p:nvPr/>
        </p:nvSpPr>
        <p:spPr>
          <a:xfrm>
            <a:off x="2542032" y="14630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Module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42032" y="2057400"/>
            <a:ext cx="181051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Smart-batches chat history retrieval. Generates AI summaries with action items, assignees, deadlines &amp; response-speed rating.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1325880"/>
            <a:ext cx="1993392" cy="3474720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325880"/>
            <a:ext cx="199339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718304" y="14630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Chat Interface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18304" y="2057400"/>
            <a:ext cx="181051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plain-English questions like 'What urgent emails did I receive today?' across both email and Teams data.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03136" y="1325880"/>
            <a:ext cx="1993392" cy="3474720"/>
          </a:xfrm>
          <a:prstGeom prst="rect">
            <a:avLst/>
          </a:prstGeom>
          <a:solidFill>
            <a:srgbClr val="023E8A">
              <a:alpha val="80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1325880"/>
            <a:ext cx="1993392" cy="73152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20" name="Text 18"/>
          <p:cNvSpPr/>
          <p:nvPr/>
        </p:nvSpPr>
        <p:spPr>
          <a:xfrm>
            <a:off x="6894576" y="14630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94576" y="2057400"/>
            <a:ext cx="181051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OAuth 2.0 authorization code flow via Azure Active Directory. Client secret never exposed to browser.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91440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70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Prioritisation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17043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achieves comparable accuracy to fine-tuned BERT for email classification in zero-shot settings (Jain et al., 2023). Explainability drives user trust (Shen et al., 2023).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883664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83664"/>
            <a:ext cx="91440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38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Messaging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193852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discussed in chat are far more likely to be forgotten than those communicated via email (Wang et al., 2021). 320M monthly Teams users (Microsoft, 2023).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651760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651760"/>
            <a:ext cx="91440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7066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Summarisation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70662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effective for chat summarisation under 4,000 tokens; degrades for longer threads (Zhao et al., 2024). RAG improves personal-data Q&amp;A (Lewis et al., 2020).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419856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419856"/>
            <a:ext cx="91440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API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34747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is stricter under user-delegated permissions. Exponential back-off and pagination handling are critical (Chen et al., 2021; Chaudhary et al., 2019).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187952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187952"/>
            <a:ext cx="91440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2428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Communications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424281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channels without intelligent filtering increases cognitive load — AI layer is essential, not optional (Scholl et al., 2019).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3-Tier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2743200" cy="6400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521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• HTML/CSS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901952"/>
            <a:ext cx="2468880" cy="530352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1947672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 — Auth, state, batch loading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560320"/>
            <a:ext cx="2468880" cy="530352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606040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mail_module.js — Priority display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218688"/>
            <a:ext cx="2468880" cy="530352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3264408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teams_module.js — Chat summaries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877056"/>
            <a:ext cx="2468880" cy="530352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3922776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chat_component.js — NL queries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115568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115568"/>
            <a:ext cx="2743200" cy="64008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11521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Tier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149047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1901952"/>
            <a:ext cx="2468880" cy="530352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01568" y="1947672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Route handlers + AI orchestration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2560320"/>
            <a:ext cx="2468880" cy="530352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01568" y="2606040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graph_client.py — Graph API calls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218688"/>
            <a:ext cx="2468880" cy="530352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01568" y="3264408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security.py — Token extraction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37560" y="3877056"/>
            <a:ext cx="2468880" cy="530352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01568" y="3922776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 — Pydantic validation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1115568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115568"/>
            <a:ext cx="274320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11521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149047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+ Azure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1901952"/>
            <a:ext cx="2468880" cy="530352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27648" y="1947672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API — Email &amp; Teams data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2560320"/>
            <a:ext cx="2468880" cy="530352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27648" y="2606040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GPT-4 — Classification/Summary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63640" y="3218688"/>
            <a:ext cx="2468880" cy="530352"/>
          </a:xfrm>
          <a:prstGeom prst="rect">
            <a:avLst/>
          </a:prstGeom>
          <a:solidFill>
            <a:srgbClr val="F0F8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27648" y="3264408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Active Directory — OAuth 2.0 auth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017520" y="3017520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0" y="3017520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Authentication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005840" cy="100584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05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" y="210312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44168" y="1508760"/>
            <a:ext cx="40233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4792" y="1005840"/>
            <a:ext cx="1005840" cy="100584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9" name="Text 7"/>
          <p:cNvSpPr/>
          <p:nvPr/>
        </p:nvSpPr>
        <p:spPr>
          <a:xfrm>
            <a:off x="1764792" y="1005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73352" y="210312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Login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1508760"/>
            <a:ext cx="40233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9544" y="1005840"/>
            <a:ext cx="1005840" cy="10058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9544" y="1005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18104" y="210312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consents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33672" y="1508760"/>
            <a:ext cx="40233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54296" y="1005840"/>
            <a:ext cx="1005840" cy="100584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4654296" y="1005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62856" y="210312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78424" y="1508760"/>
            <a:ext cx="40233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9048" y="1005840"/>
            <a:ext cx="1005840" cy="100584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48" y="1005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07608" y="210312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exchanges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for token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23176" y="1508760"/>
            <a:ext cx="40233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1005840"/>
            <a:ext cx="1005840" cy="10058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7543800" y="1005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52360" y="210312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browser; API calls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Bearer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926080"/>
            <a:ext cx="8503920" cy="1920240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926080"/>
            <a:ext cx="91440" cy="1920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0358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Backend never stores user tokens — fully stateless design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346557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Token passed as Bearer header in every API call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38953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Client secret never exposed to browser (server-side exchange only)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4325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Permissions: User.Read · Mail.Read · Mail.Send · Chat.Read · Chat.ReadWrite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Module — AI Priority Classification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965960" cy="13258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2070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Emails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Graph 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78308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 filter by date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(200/page)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58568" y="178308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0592" y="1115568"/>
            <a:ext cx="1965960" cy="13258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23744" y="12070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System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23744" y="178308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noreply, do-not-reply,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automated@ patterns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178308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1115568"/>
            <a:ext cx="1965960" cy="13258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0016" y="12070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0016" y="178308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asyncio.gather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emails concurrently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11112" y="178308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03136" y="1115568"/>
            <a:ext cx="1965960" cy="13258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76288" y="120700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Priority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76288" y="178308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response probability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651760"/>
            <a:ext cx="27432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651760"/>
            <a:ext cx="2743200" cy="5029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67919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HIGH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24612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subject/body keywords, direct colleague emails, action-required messages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2651760"/>
            <a:ext cx="27432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651760"/>
            <a:ext cx="2743200" cy="5029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267919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MEDIUM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324612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work correspondence, non-urgent questions, informational messages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2651760"/>
            <a:ext cx="27432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2651760"/>
            <a:ext cx="2743200" cy="5029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267919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LOW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63640" y="324612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notifications, newsletters, noreply senders — auto-detected and skipped from AI analysis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Module — Smart Batching &amp; AI Summarisation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3931920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023360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5097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Smart Batching Algorithm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Teams API has NO server-side date filter — unlike email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Fetch messages in batches of 100 (reverse chronological)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694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Count in-range vs out-of-range per batch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0998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STOP fetching when any message is older than the window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6301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Result: 1–3 API calls instead of dozens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Reduces API calls by up to 90% for active chats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60520" cy="3931920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4160520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95097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Summary Output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73168" y="15361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Summary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73168" y="181051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paragraph of key discussion points from selected window (daily/weekly)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73168" y="22951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3168" y="2569464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tasks with assignee name, deadline date, and High/Medium/Low priority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73168" y="30540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Speed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332841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(&lt;1 hr avg), Medium (1–24 hr), or Slow (&gt;24 hr) — calculated from message timestamps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38130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Limit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408736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30 messages fed to AI to stay within effective token window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196596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1152144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664208"/>
            <a:ext cx="18379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urgent emails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get yesterday?"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58568" y="193852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1115568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115568"/>
            <a:ext cx="196596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152144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1664208"/>
            <a:ext cx="18379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email/teams/both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extraction: 'yesterday'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34840" y="193852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1115568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115568"/>
            <a:ext cx="196596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4690872" y="1152144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Building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90872" y="1664208"/>
            <a:ext cx="18379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relevant messages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to 4,000 chars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11112" y="193852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1115568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115568"/>
            <a:ext cx="196596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6867144" y="1152144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Response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67144" y="1664208"/>
            <a:ext cx="18379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with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email references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2926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Queries Supported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364992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511296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45643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tasks were assigned to me in Teams this week?"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364992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511296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345643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I have any urgent emails from my supervisor this month?"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078224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4224528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16966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"Summarise my conversations with the team in October."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4078224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4224528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416966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there any emails about the project deadline?"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 &amp; UI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658368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9144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4241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1042416"/>
            <a:ext cx="6217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state, auth flow, batch loading orchestration, session management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82496"/>
            <a:ext cx="8503920" cy="658368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82496"/>
            <a:ext cx="9144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105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mail_module.js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1810512"/>
            <a:ext cx="6217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retrieval, priority grouping, sliding preview panel, read/unread tabs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450592"/>
            <a:ext cx="8503920" cy="658368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50592"/>
            <a:ext cx="9144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5786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teams_module.js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578608"/>
            <a:ext cx="6217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sidebar, summary display, action items panel, time window toggle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218688"/>
            <a:ext cx="8503920" cy="658368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218688"/>
            <a:ext cx="9144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34670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chat_component.js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3346704"/>
            <a:ext cx="6217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 modal, date extraction, Markdown rendering via marked.js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986784"/>
            <a:ext cx="8503920" cy="658368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986784"/>
            <a:ext cx="9144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1148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styles.css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14600" y="4114800"/>
            <a:ext cx="6217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layout, mobile breakpoints, sliding panel animations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Principles: Sliding panel (Outlook-style) · Mobile responsive · No framework (Vanilla JS) · Session-scoped settings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Challenges &amp; Solutions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9144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338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Teams API lacks date filtering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94760" y="113385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 smart batching: fetch 100 msgs/batch, stop when a message is older than the requested window — 1–3 calls vs. dozens.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03320" y="1188720"/>
            <a:ext cx="0" cy="43891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847088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47088"/>
            <a:ext cx="9144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01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Timezone bugs in date comparison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19019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Enforced timezone-aware datetimes throughout. Replaced 'Z' suffix with '+00:00' for Python 3.10 compatibility.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03320" y="1956816"/>
            <a:ext cx="0" cy="43891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615184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615184"/>
            <a:ext cx="9144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670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AI returns malformed JSON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4760" y="26700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Two-step parser: strip markdown code fences first, then json.loads(). Falls back to Medium priority on failure.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03320" y="2724912"/>
            <a:ext cx="0" cy="43891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383280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383280"/>
            <a:ext cx="9144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4381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Rate limit on parallel AI calls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94760" y="343814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asyncio.gather fires calls efficiently; individual 429 errors fall back gracefully without failing the whole batch.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03320" y="3493008"/>
            <a:ext cx="0" cy="43891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151376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151376"/>
            <a:ext cx="91440" cy="6583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Token security via localStorage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94760" y="42062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Acknowledged limitation: plan to migrate to httpOnly cookies to prevent XSS token theft in production.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703320" y="4261104"/>
            <a:ext cx="0" cy="438912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 &amp;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896112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91440" cy="8961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875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cases · Python unittest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1024128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parsing, scope detection, smart batching logic, JSON parser fallback, automated email detection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97480" y="1078992"/>
            <a:ext cx="0" cy="566928"/>
          </a:xfrm>
          <a:prstGeom prst="line">
            <a:avLst/>
          </a:prstGeom>
          <a:noFill/>
          <a:ln w="12700">
            <a:solidFill>
              <a:srgbClr val="1A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38528"/>
            <a:ext cx="8503920" cy="896112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38528"/>
            <a:ext cx="91440" cy="8961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3500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cases · Live MS365 account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048256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flow, Graph API mail &amp; chat retrieval, email mark-as-read, chat name resolution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97480" y="2103120"/>
            <a:ext cx="0" cy="566928"/>
          </a:xfrm>
          <a:prstGeom prst="line">
            <a:avLst/>
          </a:prstGeom>
          <a:noFill/>
          <a:ln w="12700">
            <a:solidFill>
              <a:srgbClr val="1A3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62656"/>
            <a:ext cx="8503920" cy="896112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62656"/>
            <a:ext cx="91440" cy="8961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35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3741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scenarios · Manual + 5 users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3072384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sign-in → email view → preview → Teams summary → NL query → mobile layout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97480" y="3127248"/>
            <a:ext cx="0" cy="566928"/>
          </a:xfrm>
          <a:prstGeom prst="line">
            <a:avLst/>
          </a:prstGeom>
          <a:noFill/>
          <a:ln w="12700">
            <a:solidFill>
              <a:srgbClr val="1A3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986784"/>
            <a:ext cx="8503920" cy="896112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986784"/>
            <a:ext cx="91440" cy="8961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0599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3982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scenarios · Timer measurements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34640" y="4096512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times from 4.8s (today) to 8.2s (week). AI batch analysis: 6.1s avg for 50 emails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97480" y="4151376"/>
            <a:ext cx="0" cy="566928"/>
          </a:xfrm>
          <a:prstGeom prst="line">
            <a:avLst/>
          </a:prstGeom>
          <a:noFill/>
          <a:ln w="12700">
            <a:solidFill>
              <a:srgbClr val="1A3A55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Classification (200 emails)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481328"/>
          <a:ext cx="43891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Summary (User Ratings / 5)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663440" y="1481328"/>
          <a:ext cx="4160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700784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41832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84248" y="914400"/>
            <a:ext cx="1563624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029968" y="941832"/>
            <a:ext cx="1508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Desk Agent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02736" y="914400"/>
            <a:ext cx="1380744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3648456" y="941832"/>
            <a:ext cx="1325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Outlook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38344" y="914400"/>
            <a:ext cx="1243584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1" name="Text 9"/>
          <p:cNvSpPr/>
          <p:nvPr/>
        </p:nvSpPr>
        <p:spPr>
          <a:xfrm>
            <a:off x="5084064" y="941832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36792" y="914400"/>
            <a:ext cx="1380744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941832"/>
            <a:ext cx="1325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Copilot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914400"/>
            <a:ext cx="1380744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5" name="Text 13"/>
          <p:cNvSpPr/>
          <p:nvPr/>
        </p:nvSpPr>
        <p:spPr>
          <a:xfrm>
            <a:off x="7818120" y="941832"/>
            <a:ext cx="1325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Superhuman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1389888"/>
            <a:ext cx="170078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142646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Prioritisation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84248" y="1389888"/>
            <a:ext cx="1563624" cy="457200"/>
          </a:xfrm>
          <a:prstGeom prst="rect">
            <a:avLst/>
          </a:prstGeom>
          <a:solidFill>
            <a:srgbClr val="00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2029968" y="1426464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configurable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02736" y="1389888"/>
            <a:ext cx="138074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21" name="Text 19"/>
          <p:cNvSpPr/>
          <p:nvPr/>
        </p:nvSpPr>
        <p:spPr>
          <a:xfrm>
            <a:off x="3648456" y="1426464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Focused Inbox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38344" y="1389888"/>
            <a:ext cx="124358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23" name="Text 21"/>
          <p:cNvSpPr/>
          <p:nvPr/>
        </p:nvSpPr>
        <p:spPr>
          <a:xfrm>
            <a:off x="5084064" y="14264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36792" y="1389888"/>
            <a:ext cx="138074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1426464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72400" y="1389888"/>
            <a:ext cx="138074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27" name="Text 25"/>
          <p:cNvSpPr/>
          <p:nvPr/>
        </p:nvSpPr>
        <p:spPr>
          <a:xfrm>
            <a:off x="7818120" y="1426464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rules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1883664"/>
            <a:ext cx="1700784" cy="457200"/>
          </a:xfrm>
          <a:prstGeom prst="rect">
            <a:avLst/>
          </a:prstGeom>
          <a:solidFill>
            <a:srgbClr val="052E4A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19202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Summarisation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984248" y="1883664"/>
            <a:ext cx="1563624" cy="457200"/>
          </a:xfrm>
          <a:prstGeom prst="rect">
            <a:avLst/>
          </a:prstGeom>
          <a:solidFill>
            <a:srgbClr val="00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2029968" y="19202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with action items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02736" y="1883664"/>
            <a:ext cx="1380744" cy="457200"/>
          </a:xfrm>
          <a:prstGeom prst="rect">
            <a:avLst/>
          </a:prstGeom>
          <a:solidFill>
            <a:srgbClr val="052E4A"/>
          </a:solidFill>
          <a:ln/>
        </p:spPr>
      </p:sp>
      <p:sp>
        <p:nvSpPr>
          <p:cNvPr id="33" name="Text 31"/>
          <p:cNvSpPr/>
          <p:nvPr/>
        </p:nvSpPr>
        <p:spPr>
          <a:xfrm>
            <a:off x="3648456" y="19202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38344" y="1883664"/>
            <a:ext cx="1243584" cy="457200"/>
          </a:xfrm>
          <a:prstGeom prst="rect">
            <a:avLst/>
          </a:prstGeom>
          <a:solidFill>
            <a:srgbClr val="052E4A"/>
          </a:solidFill>
          <a:ln/>
        </p:spPr>
      </p:sp>
      <p:sp>
        <p:nvSpPr>
          <p:cNvPr id="35" name="Text 33"/>
          <p:cNvSpPr/>
          <p:nvPr/>
        </p:nvSpPr>
        <p:spPr>
          <a:xfrm>
            <a:off x="5084064" y="19202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36792" y="1883664"/>
            <a:ext cx="1380744" cy="457200"/>
          </a:xfrm>
          <a:prstGeom prst="rect">
            <a:avLst/>
          </a:prstGeom>
          <a:solidFill>
            <a:srgbClr val="052E4A"/>
          </a:solidFill>
          <a:ln/>
        </p:spPr>
      </p:sp>
      <p:sp>
        <p:nvSpPr>
          <p:cNvPr id="37" name="Text 35"/>
          <p:cNvSpPr/>
          <p:nvPr/>
        </p:nvSpPr>
        <p:spPr>
          <a:xfrm>
            <a:off x="6382512" y="19202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72400" y="1883664"/>
            <a:ext cx="1380744" cy="457200"/>
          </a:xfrm>
          <a:prstGeom prst="rect">
            <a:avLst/>
          </a:prstGeom>
          <a:solidFill>
            <a:srgbClr val="052E4A"/>
          </a:solidFill>
          <a:ln/>
        </p:spPr>
      </p:sp>
      <p:sp>
        <p:nvSpPr>
          <p:cNvPr id="39" name="Text 37"/>
          <p:cNvSpPr/>
          <p:nvPr/>
        </p:nvSpPr>
        <p:spPr>
          <a:xfrm>
            <a:off x="7818120" y="19202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" y="2377440"/>
            <a:ext cx="170078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241401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Email+Chat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984248" y="2377440"/>
            <a:ext cx="1563624" cy="457200"/>
          </a:xfrm>
          <a:prstGeom prst="rect">
            <a:avLst/>
          </a:prstGeom>
          <a:solidFill>
            <a:srgbClr val="003A5C"/>
          </a:solidFill>
          <a:ln/>
        </p:spPr>
      </p:sp>
      <p:sp>
        <p:nvSpPr>
          <p:cNvPr id="43" name="Text 41"/>
          <p:cNvSpPr/>
          <p:nvPr/>
        </p:nvSpPr>
        <p:spPr>
          <a:xfrm>
            <a:off x="2029968" y="241401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02736" y="2377440"/>
            <a:ext cx="138074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45" name="Text 43"/>
          <p:cNvSpPr/>
          <p:nvPr/>
        </p:nvSpPr>
        <p:spPr>
          <a:xfrm>
            <a:off x="3648456" y="2414016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38344" y="2377440"/>
            <a:ext cx="124358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47" name="Text 45"/>
          <p:cNvSpPr/>
          <p:nvPr/>
        </p:nvSpPr>
        <p:spPr>
          <a:xfrm>
            <a:off x="5084064" y="241401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36792" y="2377440"/>
            <a:ext cx="138074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49" name="Text 47"/>
          <p:cNvSpPr/>
          <p:nvPr/>
        </p:nvSpPr>
        <p:spPr>
          <a:xfrm>
            <a:off x="6382512" y="2414016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772400" y="2377440"/>
            <a:ext cx="138074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51" name="Text 49"/>
          <p:cNvSpPr/>
          <p:nvPr/>
        </p:nvSpPr>
        <p:spPr>
          <a:xfrm>
            <a:off x="7818120" y="2414016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28600" y="2871216"/>
            <a:ext cx="1700784" cy="457200"/>
          </a:xfrm>
          <a:prstGeom prst="rect">
            <a:avLst/>
          </a:prstGeom>
          <a:solidFill>
            <a:srgbClr val="052E4A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2907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 Extract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984248" y="2871216"/>
            <a:ext cx="1563624" cy="457200"/>
          </a:xfrm>
          <a:prstGeom prst="rect">
            <a:avLst/>
          </a:prstGeom>
          <a:solidFill>
            <a:srgbClr val="003A5C"/>
          </a:solidFill>
          <a:ln/>
        </p:spPr>
      </p:sp>
      <p:sp>
        <p:nvSpPr>
          <p:cNvPr id="55" name="Text 53"/>
          <p:cNvSpPr/>
          <p:nvPr/>
        </p:nvSpPr>
        <p:spPr>
          <a:xfrm>
            <a:off x="2029968" y="290779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from chat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02736" y="2871216"/>
            <a:ext cx="1380744" cy="457200"/>
          </a:xfrm>
          <a:prstGeom prst="rect">
            <a:avLst/>
          </a:prstGeom>
          <a:solidFill>
            <a:srgbClr val="052E4A"/>
          </a:solidFill>
          <a:ln/>
        </p:spPr>
      </p:sp>
      <p:sp>
        <p:nvSpPr>
          <p:cNvPr id="57" name="Text 55"/>
          <p:cNvSpPr/>
          <p:nvPr/>
        </p:nvSpPr>
        <p:spPr>
          <a:xfrm>
            <a:off x="3648456" y="290779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038344" y="2871216"/>
            <a:ext cx="1243584" cy="457200"/>
          </a:xfrm>
          <a:prstGeom prst="rect">
            <a:avLst/>
          </a:prstGeom>
          <a:solidFill>
            <a:srgbClr val="052E4A"/>
          </a:solidFill>
          <a:ln/>
        </p:spPr>
      </p:sp>
      <p:sp>
        <p:nvSpPr>
          <p:cNvPr id="59" name="Text 57"/>
          <p:cNvSpPr/>
          <p:nvPr/>
        </p:nvSpPr>
        <p:spPr>
          <a:xfrm>
            <a:off x="5084064" y="290779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36792" y="2871216"/>
            <a:ext cx="1380744" cy="457200"/>
          </a:xfrm>
          <a:prstGeom prst="rect">
            <a:avLst/>
          </a:prstGeom>
          <a:solidFill>
            <a:srgbClr val="052E4A"/>
          </a:solidFill>
          <a:ln/>
        </p:spPr>
      </p:sp>
      <p:sp>
        <p:nvSpPr>
          <p:cNvPr id="61" name="Text 59"/>
          <p:cNvSpPr/>
          <p:nvPr/>
        </p:nvSpPr>
        <p:spPr>
          <a:xfrm>
            <a:off x="6382512" y="290779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772400" y="2871216"/>
            <a:ext cx="1380744" cy="457200"/>
          </a:xfrm>
          <a:prstGeom prst="rect">
            <a:avLst/>
          </a:prstGeom>
          <a:solidFill>
            <a:srgbClr val="052E4A"/>
          </a:solidFill>
          <a:ln/>
        </p:spPr>
      </p:sp>
      <p:sp>
        <p:nvSpPr>
          <p:cNvPr id="63" name="Text 61"/>
          <p:cNvSpPr/>
          <p:nvPr/>
        </p:nvSpPr>
        <p:spPr>
          <a:xfrm>
            <a:off x="7818120" y="290779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28600" y="3364992"/>
            <a:ext cx="170078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65" name="Text 63"/>
          <p:cNvSpPr/>
          <p:nvPr/>
        </p:nvSpPr>
        <p:spPr>
          <a:xfrm>
            <a:off x="274320" y="34015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984248" y="3364992"/>
            <a:ext cx="1563624" cy="457200"/>
          </a:xfrm>
          <a:prstGeom prst="rect">
            <a:avLst/>
          </a:prstGeom>
          <a:solidFill>
            <a:srgbClr val="003A5C"/>
          </a:solidFill>
          <a:ln/>
        </p:spPr>
      </p:sp>
      <p:sp>
        <p:nvSpPr>
          <p:cNvPr id="67" name="Text 65"/>
          <p:cNvSpPr/>
          <p:nvPr/>
        </p:nvSpPr>
        <p:spPr>
          <a:xfrm>
            <a:off x="2029968" y="340156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02736" y="3364992"/>
            <a:ext cx="138074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69" name="Text 67"/>
          <p:cNvSpPr/>
          <p:nvPr/>
        </p:nvSpPr>
        <p:spPr>
          <a:xfrm>
            <a:off x="3648456" y="340156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search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038344" y="3364992"/>
            <a:ext cx="124358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71" name="Text 69"/>
          <p:cNvSpPr/>
          <p:nvPr/>
        </p:nvSpPr>
        <p:spPr>
          <a:xfrm>
            <a:off x="5084064" y="34015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search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336792" y="3364992"/>
            <a:ext cx="138074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73" name="Text 71"/>
          <p:cNvSpPr/>
          <p:nvPr/>
        </p:nvSpPr>
        <p:spPr>
          <a:xfrm>
            <a:off x="6382512" y="340156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772400" y="3364992"/>
            <a:ext cx="138074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75" name="Text 73"/>
          <p:cNvSpPr/>
          <p:nvPr/>
        </p:nvSpPr>
        <p:spPr>
          <a:xfrm>
            <a:off x="7818120" y="340156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28600" y="3858768"/>
            <a:ext cx="1700784" cy="457200"/>
          </a:xfrm>
          <a:prstGeom prst="rect">
            <a:avLst/>
          </a:prstGeom>
          <a:solidFill>
            <a:srgbClr val="052E4A"/>
          </a:solidFill>
          <a:ln/>
        </p:spPr>
      </p:sp>
      <p:sp>
        <p:nvSpPr>
          <p:cNvPr id="77" name="Text 75"/>
          <p:cNvSpPr/>
          <p:nvPr/>
        </p:nvSpPr>
        <p:spPr>
          <a:xfrm>
            <a:off x="274320" y="38953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1984248" y="3858768"/>
            <a:ext cx="1563624" cy="457200"/>
          </a:xfrm>
          <a:prstGeom prst="rect">
            <a:avLst/>
          </a:prstGeom>
          <a:solidFill>
            <a:srgbClr val="003A5C"/>
          </a:solidFill>
          <a:ln/>
        </p:spPr>
      </p:sp>
      <p:sp>
        <p:nvSpPr>
          <p:cNvPr id="79" name="Text 77"/>
          <p:cNvSpPr/>
          <p:nvPr/>
        </p:nvSpPr>
        <p:spPr>
          <a:xfrm>
            <a:off x="2029968" y="3895344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(self-hosted)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602736" y="3858768"/>
            <a:ext cx="1380744" cy="457200"/>
          </a:xfrm>
          <a:prstGeom prst="rect">
            <a:avLst/>
          </a:prstGeom>
          <a:solidFill>
            <a:srgbClr val="052E4A"/>
          </a:solidFill>
          <a:ln/>
        </p:spPr>
      </p:sp>
      <p:sp>
        <p:nvSpPr>
          <p:cNvPr id="81" name="Text 79"/>
          <p:cNvSpPr/>
          <p:nvPr/>
        </p:nvSpPr>
        <p:spPr>
          <a:xfrm>
            <a:off x="3648456" y="3895344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subscription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038344" y="3858768"/>
            <a:ext cx="1243584" cy="457200"/>
          </a:xfrm>
          <a:prstGeom prst="rect">
            <a:avLst/>
          </a:prstGeom>
          <a:solidFill>
            <a:srgbClr val="052E4A"/>
          </a:solidFill>
          <a:ln/>
        </p:spPr>
      </p:sp>
      <p:sp>
        <p:nvSpPr>
          <p:cNvPr id="83" name="Text 81"/>
          <p:cNvSpPr/>
          <p:nvPr/>
        </p:nvSpPr>
        <p:spPr>
          <a:xfrm>
            <a:off x="5084064" y="389534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subscription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336792" y="3858768"/>
            <a:ext cx="1380744" cy="457200"/>
          </a:xfrm>
          <a:prstGeom prst="rect">
            <a:avLst/>
          </a:prstGeom>
          <a:solidFill>
            <a:srgbClr val="052E4A"/>
          </a:solidFill>
          <a:ln/>
        </p:spPr>
      </p:sp>
      <p:sp>
        <p:nvSpPr>
          <p:cNvPr id="85" name="Text 83"/>
          <p:cNvSpPr/>
          <p:nvPr/>
        </p:nvSpPr>
        <p:spPr>
          <a:xfrm>
            <a:off x="6382512" y="3895344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$30/user/mo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7772400" y="3858768"/>
            <a:ext cx="1380744" cy="457200"/>
          </a:xfrm>
          <a:prstGeom prst="rect">
            <a:avLst/>
          </a:prstGeom>
          <a:solidFill>
            <a:srgbClr val="052E4A"/>
          </a:solidFill>
          <a:ln/>
        </p:spPr>
      </p:sp>
      <p:sp>
        <p:nvSpPr>
          <p:cNvPr id="87" name="Text 85"/>
          <p:cNvSpPr/>
          <p:nvPr/>
        </p:nvSpPr>
        <p:spPr>
          <a:xfrm>
            <a:off x="7818120" y="3895344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$30/mo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28600" y="4352544"/>
            <a:ext cx="170078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89" name="Text 87"/>
          <p:cNvSpPr/>
          <p:nvPr/>
        </p:nvSpPr>
        <p:spPr>
          <a:xfrm>
            <a:off x="274320" y="4389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1984248" y="4352544"/>
            <a:ext cx="1563624" cy="457200"/>
          </a:xfrm>
          <a:prstGeom prst="rect">
            <a:avLst/>
          </a:prstGeom>
          <a:solidFill>
            <a:srgbClr val="003A5C"/>
          </a:solidFill>
          <a:ln/>
        </p:spPr>
      </p:sp>
      <p:sp>
        <p:nvSpPr>
          <p:cNvPr id="91" name="Text 89"/>
          <p:cNvSpPr/>
          <p:nvPr/>
        </p:nvSpPr>
        <p:spPr>
          <a:xfrm>
            <a:off x="2029968" y="438912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602736" y="4352544"/>
            <a:ext cx="138074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93" name="Text 91"/>
          <p:cNvSpPr/>
          <p:nvPr/>
        </p:nvSpPr>
        <p:spPr>
          <a:xfrm>
            <a:off x="3648456" y="43891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5038344" y="4352544"/>
            <a:ext cx="124358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95" name="Text 93"/>
          <p:cNvSpPr/>
          <p:nvPr/>
        </p:nvSpPr>
        <p:spPr>
          <a:xfrm>
            <a:off x="5084064" y="43891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336792" y="4352544"/>
            <a:ext cx="138074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97" name="Text 95"/>
          <p:cNvSpPr/>
          <p:nvPr/>
        </p:nvSpPr>
        <p:spPr>
          <a:xfrm>
            <a:off x="6382512" y="43891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7772400" y="4352544"/>
            <a:ext cx="1380744" cy="457200"/>
          </a:xfrm>
          <a:prstGeom prst="rect">
            <a:avLst/>
          </a:prstGeom>
          <a:solidFill>
            <a:srgbClr val="071F33"/>
          </a:solidFill>
          <a:ln/>
        </p:spPr>
      </p:sp>
      <p:sp>
        <p:nvSpPr>
          <p:cNvPr id="99" name="Text 97"/>
          <p:cNvSpPr/>
          <p:nvPr/>
        </p:nvSpPr>
        <p:spPr>
          <a:xfrm>
            <a:off x="7818120" y="43891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27432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704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Progressive AI Loading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email list immediately with placeholders; fill priority badges as AI analyses complete — eliminates wait-time perception.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111556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115568"/>
            <a:ext cx="27432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1704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Persistent Analysis Cache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66420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cache keyed on message ID + content hash; eliminates repeated API costs for the same messages across sessions.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11556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115568"/>
            <a:ext cx="27432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11704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Email Reply Generation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54496" y="166420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AI-drafted reply suggestions using tone, urgency and relationship context already captured in the email analysis.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3580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35808"/>
            <a:ext cx="27432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090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Improved Security (httpOnly Cookies)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58444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localStorage token storage with httpOnly cookies + CSRF protection to eliminate XSS vulnerability.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8688" y="303580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3035808"/>
            <a:ext cx="27432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3090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Multi-user &amp; Team Deployment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0128" y="358444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keyword sets per department, aggregate inbox state for managers, user preference persistence in a database.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3035808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3035808"/>
            <a:ext cx="27432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6254496" y="3090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RAG with Vector Search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358444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/ LangChain + Pinecone/Qdrant to enable semantic search over communication history rather than keyword-only retrieval.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3200400"/>
            <a:ext cx="3200400" cy="3200400"/>
          </a:xfrm>
          <a:prstGeom prst="ellipse">
            <a:avLst/>
          </a:prstGeom>
          <a:solidFill>
            <a:srgbClr val="052E4A">
              <a:alpha val="70000"/>
            </a:srgbClr>
          </a:solidFill>
          <a:ln w="12700">
            <a:solidFill>
              <a:srgbClr val="052E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457200"/>
            <a:ext cx="1828800" cy="18288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28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7498080" cy="548640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Email classification: 84% F1 (High), 92% for automated email detection across 200-email test set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618488"/>
            <a:ext cx="7498080" cy="548640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6642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Teams summarisation rated 4.2–4.6/5 for accuracy and usefulness by real-world testers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276856"/>
            <a:ext cx="7498080" cy="548640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32257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NL query answered correctly in 70% of 30 test queries; hallucination identified as key limitation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935224"/>
            <a:ext cx="7498080" cy="548640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98094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Smart batching reduced Teams API calls by up to 90% vs. naive full-history fetch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593592"/>
            <a:ext cx="7498080" cy="548640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63931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Dashboard load time under 10s achieved via async parallel processing (FastAPI + asyncio.gather)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4251960"/>
            <a:ext cx="7498080" cy="548640"/>
          </a:xfrm>
          <a:prstGeom prst="rect">
            <a:avLst/>
          </a:prstGeom>
          <a:solidFill>
            <a:srgbClr val="052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Open-source alternative to Microsoft Copilot ($30/user/month) using free MS Graph + Azure OpenAI APIs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· JUIT Waknaghat ·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Desk Agent</dc:title>
  <dc:subject>PptxGenJS Presentation</dc:subject>
  <dc:creator>PptxGenJS</dc:creator>
  <cp:lastModifiedBy>PptxGenJS</cp:lastModifiedBy>
  <cp:revision>1</cp:revision>
  <dcterms:created xsi:type="dcterms:W3CDTF">2026-05-04T17:06:05Z</dcterms:created>
  <dcterms:modified xsi:type="dcterms:W3CDTF">2026-05-04T17:06:05Z</dcterms:modified>
</cp:coreProperties>
</file>