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3152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65760"/>
            <a:ext cx="2286000" cy="274320"/>
          </a:xfrm>
          <a:prstGeom prst="rect">
            <a:avLst>
              <a:gd name="adj" fmla="val 16667"/>
            </a:avLst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65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B.TECH MAJOR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8229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Cyber Attack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760" y="155448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Using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365760" y="21945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Modeling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365760" y="3017520"/>
            <a:ext cx="4114800" cy="36576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3154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Kumar  |  Shrey Dahiya  |  Shivank Choudhary  |  Arpit Sharma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520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Seema Verma, Asst. Professor (Grade-I)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794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&amp; IT  |  Jaypee University of Information Technology, Waknaghat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97680"/>
            <a:ext cx="914400" cy="256032"/>
          </a:xfrm>
          <a:prstGeom prst="rect">
            <a:avLst>
              <a:gd name="adj" fmla="val 17857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338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972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792224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792224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79222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18836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Motivation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578608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578608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57860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0662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6700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74320" y="3364992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4320" y="3364992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" y="336499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9300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4564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74320" y="4151376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74320" y="4151376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15137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7939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424281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54880" y="1005840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54880" y="1005840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754880" y="100584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113385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69280" y="10972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4754880" y="1792224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754880" y="1792224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754880" y="179222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1920240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669280" y="18836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Strategy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754880" y="2578608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754880" y="2578608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4754880" y="257860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706624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669280" y="26700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 Stack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4754880" y="3364992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4754880" y="3364992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4754880" y="336499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493008"/>
            <a:ext cx="384048" cy="38404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669280" y="34564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4754880" y="4151376"/>
            <a:ext cx="4114800" cy="658368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4754880" y="4151376"/>
            <a:ext cx="411480" cy="65836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4754880" y="415137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0" y="4279392"/>
            <a:ext cx="384048" cy="38404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669280" y="424281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0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1498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digital ecosystems are characterized by an unprecedented expansion of IoT devices, cloud services, and networked systems.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548640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19072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7393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threats have evolved — from DDoS and port scanning to complex adaptive intrusion strategies targeting critical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78024"/>
            <a:ext cx="548640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78024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328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IDS fail to detect novel or evolving attack patterns that deviate from predefined signatures.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36976"/>
            <a:ext cx="548640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236976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918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systems to learn patterns from data and generalize to previously unseen threats.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95928"/>
            <a:ext cx="5486400" cy="64008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95928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5079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network statistics alone are insufficient — behavioral dynamics of traffic require richer feature representations.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914400"/>
            <a:ext cx="2926080" cy="393192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1600200"/>
            <a:ext cx="2194560" cy="228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148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194560"/>
            <a:ext cx="1645920" cy="2286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743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2788920"/>
            <a:ext cx="1920240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337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3383280"/>
            <a:ext cx="1371600" cy="228600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931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86600" y="3977640"/>
            <a:ext cx="1828800" cy="228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297680"/>
            <a:ext cx="640080" cy="6400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40080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Threat Surface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Scale-Dependent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like packet count are duration-sensitive. Similar counts over different intervals represent fundamentally different behaviors — traditional features miss this distinction.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96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Single-Model Limitations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models (RF) offer speed but lack depth; complex models (XGBoost) improve accuracy but increase cost. Existing systems fail to balance this trade-off effectively.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0360"/>
            <a:ext cx="41148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16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Static Feature Representations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IDS frameworks rely on static statistical features that fail to capture temporal and behavioral dynamics. DDoS, probing, and scanning attacks exhibit sequential dependencies not captured by tabular models.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80360"/>
            <a:ext cx="4114800" cy="347472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16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Directional Asymmetry Loss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asymmetry and traffic irregularities — key indicators of anomalous behavior — are lost when relying solely on aggregate features, reducing sensitivity for sophisticated attacks.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527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005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behavioral feature engineering pipeline transforming raw flow stats into meaningful traffic dynamic representations.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914400"/>
            <a:ext cx="411480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5272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22392" y="1005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multi-model IDS using Random Forest and XGBoost, exploiting each model's strengths for classification efficiency and accuracy.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7860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7552" y="23317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confidence-based cascading — RF for fast initial classification, XGBoost for deeper analysis of uncertain samples.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709160" y="2240280"/>
            <a:ext cx="411480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786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22392" y="23317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GRU-based sequential model to capture temporal and behavioral patterns not visible in static feature sets.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274320" y="3566160"/>
            <a:ext cx="411480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04488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7552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accuracy, precision, recall, and F1-score on the CIC-IoT 2023 dataset — a modern IoT benchmark.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4709160" y="3566160"/>
            <a:ext cx="411480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4A608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04488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22392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Streamlit for real-time inference on uploaded network traffic data — practical enterprise applicability.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8869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886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07008"/>
            <a:ext cx="54864" cy="47548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61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Wiafe et al., 2020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12618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Cybersecurity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1261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most effective; ensemble &gt; single classifiers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19072"/>
            <a:ext cx="8595360" cy="475488"/>
          </a:xfrm>
          <a:prstGeom prst="rect">
            <a:avLst/>
          </a:prstGeom>
          <a:solidFill>
            <a:srgbClr val="0E1C35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19072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773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Aloqaily et al., 2022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17739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Cybersecurity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773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 superior to signatures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31136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31136"/>
            <a:ext cx="54864" cy="47548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 &amp; Chauhan, 2025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Threat Detection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effective for temporal modeling with low overhead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8595360" cy="475488"/>
          </a:xfrm>
          <a:prstGeom prst="rect">
            <a:avLst/>
          </a:prstGeom>
          <a:solidFill>
            <a:srgbClr val="0E1C35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43200"/>
            <a:ext cx="54864" cy="4754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Oguz &amp; Bucak, 2016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2798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Behavior-Based IDS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7980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J48 Decision Tree AUC ≈ 0.958 for DoS/Probe attacks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255264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55264"/>
            <a:ext cx="54864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310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et al., 2025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33101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Network Anomaly Detection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310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ensemble: 98.79% accuracy on DDoS/PortScan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767328"/>
            <a:ext cx="8595360" cy="475488"/>
          </a:xfrm>
          <a:prstGeom prst="rect">
            <a:avLst/>
          </a:prstGeom>
          <a:solidFill>
            <a:srgbClr val="0E1C35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767328"/>
            <a:ext cx="54864" cy="47548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Gueriani et al., 2024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3822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LSTM-CNN for IIoT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822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detection with real-time inference capability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279392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279392"/>
            <a:ext cx="54864" cy="47548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3342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Villegas-Ch et al., 2024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286000" y="43342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Deep Learning IDS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3342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positives; adapts to new patterns in near real-time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unified framework combines behavioral feature engineering + cascaded multi-model + temporal GRU analysis on modern IoT datasets.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CIC-IoT 2023 Dataset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5087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IoT network traffic benchmark
</a:t>
            </a:r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+ malicious traffic (multi-class)
</a:t>
            </a:r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Flow-based features: duration, packets, bytes
</a:t>
            </a:r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measures: mean, min, max, std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058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 Engineering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508760"/>
            <a:ext cx="987552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1508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Packet Rate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715000" y="1508760"/>
            <a:ext cx="987552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1508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Byte Rate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766560" y="1508760"/>
            <a:ext cx="987552" cy="2560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0" y="1508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Packet Ratio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818120" y="1508760"/>
            <a:ext cx="987552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818120" y="1508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Flow Intensity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663440" y="1828800"/>
            <a:ext cx="987552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63440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Stability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715000" y="1828800"/>
            <a:ext cx="987552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15000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Irregularity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766560" y="1828800"/>
            <a:ext cx="987552" cy="2560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66560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Bytes/Packet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818120" y="1828800"/>
            <a:ext cx="987552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818120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Packet Diff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5760" y="2523744"/>
            <a:ext cx="1463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920240" y="2523744"/>
            <a:ext cx="6858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 →  Clean &amp; Standardize  →  Engineer Features  →  Encode Labels  →  Train/Test Split  →  Model Ready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74320" y="2926080"/>
            <a:ext cx="20574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74320" y="2926080"/>
            <a:ext cx="2057400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295351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65760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to prevent model bias; duplicates removed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450592" y="2926080"/>
            <a:ext cx="20574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450592" y="2926080"/>
            <a:ext cx="2057400" cy="2926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496312" y="295351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2542032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scaled for model compatibility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626864" y="2926080"/>
            <a:ext cx="20574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626864" y="2926080"/>
            <a:ext cx="20574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672584" y="295351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4718304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attack types encoded as integers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803136" y="2926080"/>
            <a:ext cx="20574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803136" y="2926080"/>
            <a:ext cx="205740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848856" y="295351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Filtering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894576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classes filtered to reduce imbalance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7 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12064"/>
          </a:xfrm>
          <a:prstGeom prst="rect">
            <a:avLst/>
          </a:prstGeom>
          <a:solidFill>
            <a:srgbClr val="112240"/>
          </a:solidFill>
          <a:ln w="10160">
            <a:solidFill>
              <a:srgbClr val="0097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512064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966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Source 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0" y="996696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CIC-IoT 2023 Dataset — preprocessed network flow records (benign + attacks)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8595360" cy="512064"/>
          </a:xfrm>
          <a:prstGeom prst="rect">
            <a:avLst/>
          </a:prstGeom>
          <a:solidFill>
            <a:srgbClr val="11224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17904"/>
            <a:ext cx="1920240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Handling Layer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160020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Pandas-based loading, schema inspection, type correction, train/val/test split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8595360" cy="512064"/>
          </a:xfrm>
          <a:prstGeom prst="rect">
            <a:avLst/>
          </a:prstGeom>
          <a:solidFill>
            <a:srgbClr val="112240"/>
          </a:solidFill>
          <a:ln w="10160">
            <a:solidFill>
              <a:srgbClr val="FF8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21408"/>
            <a:ext cx="1920240" cy="5120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03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Processing Layer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2203704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normalization, feature selection, label encoding, class imbalance handling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8595360" cy="512064"/>
          </a:xfrm>
          <a:prstGeom prst="rect">
            <a:avLst/>
          </a:prstGeom>
          <a:solidFill>
            <a:srgbClr val="112240"/>
          </a:solidFill>
          <a:ln w="10160">
            <a:solidFill>
              <a:srgbClr val="FF47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24912"/>
            <a:ext cx="1920240" cy="5120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072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Layer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80720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(primary) → Confidence Router → XGBoost (secondary) cascade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28416"/>
            <a:ext cx="8595360" cy="512064"/>
          </a:xfrm>
          <a:prstGeom prst="rect">
            <a:avLst/>
          </a:prstGeom>
          <a:solidFill>
            <a:srgbClr val="112240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28416"/>
            <a:ext cx="1920240" cy="5120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107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Ensemble/GRU Layer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0" y="341071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sequential model captures temporal traffic patterns for behavioral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8595360" cy="512064"/>
          </a:xfrm>
          <a:prstGeom prst="rect">
            <a:avLst/>
          </a:prstGeom>
          <a:solidFill>
            <a:srgbClr val="112240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931920"/>
            <a:ext cx="1920240" cy="5120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142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Application Layer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0" y="4014216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UI: upload traffic → receive real-time predictions and metric visualizations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535424"/>
            <a:ext cx="8595360" cy="512064"/>
          </a:xfrm>
          <a:prstGeom prst="rect">
            <a:avLst/>
          </a:prstGeom>
          <a:solidFill>
            <a:srgbClr val="112240"/>
          </a:solidFill>
          <a:ln w="10160">
            <a:solidFill>
              <a:srgbClr val="FF8C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535424"/>
            <a:ext cx="1920240" cy="5120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17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Evaluation Layer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461772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 per model &amp; cascade; confusion matrices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4023360"/>
          </a:xfrm>
          <a:prstGeom prst="rect">
            <a:avLst/>
          </a:prstGeom>
          <a:solidFill>
            <a:srgbClr val="112240"/>
          </a:solidFill>
          <a:ln w="15240">
            <a:solidFill>
              <a:srgbClr val="0097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834640" cy="868680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7552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05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371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Classifier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19019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Ensemble of decision trees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23591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Bagging + feature randomness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8163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to overfitting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2735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 class probabilities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37307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inference on high-dim data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41879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confidence scores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46120" y="914400"/>
            <a:ext cx="2834640" cy="4023360"/>
          </a:xfrm>
          <a:prstGeom prst="rect">
            <a:avLst/>
          </a:prstGeom>
          <a:solidFill>
            <a:srgbClr val="112240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914400"/>
            <a:ext cx="2834640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987552"/>
            <a:ext cx="658368" cy="6583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69080" y="1005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069080" y="1371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Classifier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83280" y="19019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Sequential gradient boosting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83280" y="23591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tree corrects prior errors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83280" y="28163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Regularization prevents overfit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83280" y="32735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complex non-linearities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383280" y="37307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Activated for low-confidence cases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83280" y="41879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cost, higher accuracy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17920" y="914400"/>
            <a:ext cx="2834640" cy="4023360"/>
          </a:xfrm>
          <a:prstGeom prst="rect">
            <a:avLst/>
          </a:prstGeom>
          <a:solidFill>
            <a:srgbClr val="112240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17920" y="914400"/>
            <a:ext cx="2834640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87552"/>
            <a:ext cx="658368" cy="65836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040880" y="1005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(Gated Recurrent Unit)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040880" y="1371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355080" y="19019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Recurrent neural network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355080" y="23591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temporal dependencies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355080" y="28163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than LSTM, equally effective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355080" y="32735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Sequences of network flows as input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355080" y="37307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evolving attack patterns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355080" y="41879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Complements tabular classifiers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Cascading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2011680"/>
            <a:ext cx="1325880" cy="685800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2304288"/>
            <a:ext cx="3200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2240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2011680"/>
            <a:ext cx="1325880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2304288"/>
            <a:ext cx="3200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240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011680"/>
            <a:ext cx="1325880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304288"/>
            <a:ext cx="3200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240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011680"/>
            <a:ext cx="132588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1417320" cy="6400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234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Accept RF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914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Threshold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1417320" cy="6400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834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3520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Threshold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97880" y="2011680"/>
            <a:ext cx="137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554480"/>
            <a:ext cx="0" cy="45720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697480"/>
            <a:ext cx="0" cy="137160"/>
          </a:xfrm>
          <a:prstGeom prst="line">
            <a:avLst/>
          </a:prstGeom>
          <a:noFill/>
          <a:ln w="19050">
            <a:solidFill>
              <a:srgbClr val="FF8C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2011680"/>
            <a:ext cx="1325880" cy="6858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Attack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931920"/>
            <a:ext cx="4754880" cy="594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3986784"/>
            <a:ext cx="457200" cy="457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840480" y="40050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Temporal Model (Parallel):  Analyzes sequences of flows to detect time-dependent attack patterns — adds behavioral intelligence layer.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82880" y="3931920"/>
            <a:ext cx="2834640" cy="59436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39867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Optimization: Multiple values evaluated empirically to maximize cascaded classification accuracy on the test set.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051560"/>
            <a:ext cx="640080" cy="640080"/>
          </a:xfrm>
          <a:prstGeom prst="ellipse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756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CIC-IoT 2023 — benign + attack traffic flows (Pandas read_csv)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96012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5536" y="105156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32888" y="178308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20756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standardize features, encode categorical variables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96012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8384" y="1051560"/>
            <a:ext cx="640080" cy="6400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45736" y="178308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20756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packet_rate, byte_rate, flow_intensity, stability, irregularity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67144" y="96012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1051560"/>
            <a:ext cx="640080" cy="64008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58584" y="178308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58584" y="20756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preserves class distribution across training &amp; test sets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92608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30175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0040" y="37490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RF + XGBoost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acts as primary; XGBoost prepared for complex cascaded cases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41448" y="292608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45536" y="3017520"/>
            <a:ext cx="640080" cy="64008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45536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532888" y="37490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Cascade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32888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confidence ≥ threshold → accept; else forward to XGBoost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54296" y="292608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58384" y="3017520"/>
            <a:ext cx="640080" cy="64008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58384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45736" y="37490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Training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45736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preparation: group flows into sessions, pad to fixed length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67144" y="2926080"/>
            <a:ext cx="20574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71232" y="3017520"/>
            <a:ext cx="640080" cy="6400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232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58584" y="37490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58584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 for RF / XGB / Cascade / GRU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530352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332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515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673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78892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960120"/>
            <a:ext cx="2788920" cy="5303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3327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0515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29000" y="164592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1673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29000" y="210312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74720" y="21305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960120"/>
            <a:ext cx="278892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960120"/>
            <a:ext cx="27889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3327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10515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0" y="164592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46520" y="1673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0" y="210312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46520" y="21305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74320" y="2971800"/>
            <a:ext cx="278892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74320" y="2971800"/>
            <a:ext cx="2788920" cy="5303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044952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30632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365760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2920" y="3685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57200" y="411480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02920" y="4142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(GRU)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246120" y="2971800"/>
            <a:ext cx="278892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246120" y="2971800"/>
            <a:ext cx="2788920" cy="5303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44952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94760" y="30632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3429000" y="365760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474720" y="3685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3429000" y="411480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474720" y="41422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217920" y="2971800"/>
            <a:ext cx="278892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217920" y="2971800"/>
            <a:ext cx="2788920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44952"/>
            <a:ext cx="384048" cy="38404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766560" y="30632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6400800" y="3657600"/>
            <a:ext cx="2423160" cy="329184"/>
          </a:xfrm>
          <a:prstGeom prst="rect">
            <a:avLst/>
          </a:prstGeom>
          <a:solidFill>
            <a:srgbClr val="0E1C35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6446520" y="3685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E1C35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365760" y="470001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Full system deployed via Streamlit — real-time prediction on uploaded network traffic CSV files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Evaluation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325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+ TN / Total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 predictions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2011680" cy="1325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960120"/>
            <a:ext cx="2011680" cy="3200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987552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avoid false alarms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2011680" cy="13258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960120"/>
            <a:ext cx="2011680" cy="3200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987552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72584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detect real attacks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2011680" cy="132588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960120"/>
            <a:ext cx="201168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987552"/>
            <a:ext cx="19202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48856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2×P×R / (P+R)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measure for imbalanced classes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8595360" cy="256032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4144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Conducted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788920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788920"/>
            <a:ext cx="54864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712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14600" y="287121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correct classification of all attack categories and benign traffic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337560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337560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4198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14600" y="341985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RF → XGBoost cascade pipeline works end-to-end without errors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886200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886200"/>
            <a:ext cx="54864" cy="4754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9684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514600" y="396849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ingestion latency and API response time under load conditions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434840"/>
            <a:ext cx="54864" cy="47548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5171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Testing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14600" y="451713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system behavior during failure events and recovery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Across Models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35608"/>
            <a:ext cx="640080" cy="2130552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95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1444752"/>
            <a:ext cx="640080" cy="2121408"/>
          </a:xfrm>
          <a:prstGeom prst="rect">
            <a:avLst/>
          </a:prstGeom>
          <a:solidFill>
            <a:srgbClr val="0097B8">
              <a:alpha val="65000"/>
            </a:srgbClr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188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20240" cy="36576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1399032"/>
            <a:ext cx="640080" cy="2167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143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412748"/>
            <a:ext cx="640080" cy="2153412"/>
          </a:xfrm>
          <a:prstGeom prst="rect">
            <a:avLst/>
          </a:prstGeom>
          <a:solidFill>
            <a:srgbClr val="8B5CF6">
              <a:alpha val="6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1567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3566160"/>
            <a:ext cx="1920240" cy="36576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474470"/>
            <a:ext cx="640080" cy="209169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1843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1492758"/>
            <a:ext cx="640080" cy="2073402"/>
          </a:xfrm>
          <a:prstGeom prst="rect">
            <a:avLst/>
          </a:prstGeom>
          <a:solidFill>
            <a:srgbClr val="00E5A0">
              <a:alpha val="6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23672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566160"/>
            <a:ext cx="1920240" cy="36576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Model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369314"/>
            <a:ext cx="640080" cy="219684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11328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1383030"/>
            <a:ext cx="640080" cy="2183130"/>
          </a:xfrm>
          <a:prstGeom prst="rect">
            <a:avLst/>
          </a:prstGeom>
          <a:solidFill>
            <a:srgbClr val="FF4757">
              <a:alpha val="6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12699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566160"/>
            <a:ext cx="1920240" cy="36576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(Proposed)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1234440"/>
            <a:ext cx="457200" cy="22860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12618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1234440"/>
            <a:ext cx="457200" cy="228600"/>
          </a:xfrm>
          <a:prstGeom prst="rect">
            <a:avLst/>
          </a:prstGeom>
          <a:solidFill>
            <a:srgbClr val="4A6080">
              <a:alpha val="65000"/>
            </a:srgbClr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1261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69664"/>
            <a:ext cx="502920" cy="5029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05840" y="413308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The confidence-based cascaded system outperforms individual models by combining RF's speed with XGBoost's depth. The GRU model provides unique temporal insights for evolving attack pattern detection.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Representative values shown. Final numerical results pending complete experimental runs on the full dataset.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0097B8"/>
          </a:solidFill>
          <a:ln w="3810">
            <a:solidFill>
              <a:srgbClr val="009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784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63240" y="9784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51960" y="9784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9784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9784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9784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490472"/>
            <a:ext cx="8595360" cy="566928"/>
          </a:xfrm>
          <a:prstGeom prst="rect">
            <a:avLst/>
          </a:prstGeom>
          <a:solidFill>
            <a:srgbClr val="0E1C35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00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 Engineering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16002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1600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600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16002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12264"/>
            <a:ext cx="8595360" cy="56692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2199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Architecture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222199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222199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22199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22199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221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734056"/>
            <a:ext cx="8595360" cy="566928"/>
          </a:xfrm>
          <a:prstGeom prst="rect">
            <a:avLst/>
          </a:prstGeom>
          <a:solidFill>
            <a:srgbClr val="0E1C35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437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(Temporal) Modeling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63240" y="284378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284378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84378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84378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284378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355848"/>
            <a:ext cx="8595360" cy="56692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4655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Attack Classification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63240" y="346557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51960" y="346557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46557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46557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34655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977640"/>
            <a:ext cx="8595360" cy="566928"/>
          </a:xfrm>
          <a:prstGeom prst="rect">
            <a:avLst/>
          </a:prstGeom>
          <a:solidFill>
            <a:srgbClr val="0E1C35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0873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CIC-IoT 2023 Dataset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63240" y="40873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51960" y="408736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08736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408736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69480" y="40873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599432"/>
            <a:ext cx="8595360" cy="566928"/>
          </a:xfrm>
          <a:prstGeom prst="rect">
            <a:avLst/>
          </a:prstGeom>
          <a:solidFill>
            <a:srgbClr val="112240"/>
          </a:solidFill>
          <a:ln w="3810">
            <a:solidFill>
              <a:srgbClr val="4A6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7091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Cascading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63240" y="47091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51960" y="4709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4709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63640" y="4709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69480" y="4709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12240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is the ONLY approach combining all 6 capabilities simultaneously — a comprehensive IDS for modern networks.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Overcome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1280160"/>
          </a:xfrm>
          <a:prstGeom prst="rect">
            <a:avLst/>
          </a:prstGeom>
          <a:solidFill>
            <a:srgbClr val="112240"/>
          </a:solidFill>
          <a:ln w="10160">
            <a:solidFill>
              <a:srgbClr val="FF8C4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Scale-Dependent Features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13533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Packet counts and byte volumes vary widely across flow durations, making direct comparisons unreliable.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17190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Developed normalized behavioral features (packet rate, flow intensity) that capture relative dynamics, not just absolute values.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36592" y="914400"/>
            <a:ext cx="4251960" cy="1280160"/>
          </a:xfrm>
          <a:prstGeom prst="rect">
            <a:avLst/>
          </a:prstGeom>
          <a:solidFill>
            <a:srgbClr val="112240"/>
          </a:solidFill>
          <a:ln w="10160">
            <a:solidFill>
              <a:srgbClr val="FF47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05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9512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873752" y="13533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Certain attack categories severely underrepresented in dataset, causing biased model training.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873752" y="17190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Filtered low-frequency classes and applied stratified sampling to ensure balanced representation during training.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4320" y="2331720"/>
            <a:ext cx="4251960" cy="1280160"/>
          </a:xfrm>
          <a:prstGeom prst="rect">
            <a:avLst/>
          </a:prstGeom>
          <a:solidFill>
            <a:srgbClr val="112240"/>
          </a:solidFill>
          <a:ln w="1016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231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423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Threshold Tuning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11480" y="27706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Confidence threshold must be calibrated carefully — too high means over-reliance on RF; too low routes everything to XGB.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11480" y="31363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Empirical evaluation across multiple threshold values to select the value maximizing cascaded pipeline accuracy.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36592" y="2331720"/>
            <a:ext cx="4251960" cy="1280160"/>
          </a:xfrm>
          <a:prstGeom prst="rect">
            <a:avLst/>
          </a:prstGeom>
          <a:solidFill>
            <a:srgbClr val="112240"/>
          </a:solidFill>
          <a:ln w="10160">
            <a:solidFill>
              <a:srgbClr val="0097B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231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39512" y="2423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Sequence Preparation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873752" y="27706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Tabular network flow data must be transformed into fixed-length sequences suitable for GRU input.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873752" y="31363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Session grouping and padding strategy to create consistent time-series inputs aligned with training labels.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74320" y="3749040"/>
            <a:ext cx="4251960" cy="1280160"/>
          </a:xfrm>
          <a:prstGeom prst="rect">
            <a:avLst/>
          </a:prstGeom>
          <a:solidFill>
            <a:srgbClr val="112240"/>
          </a:solidFill>
          <a:ln w="10160">
            <a:solidFill>
              <a:srgbClr val="00E5A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84048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3840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Consistency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11480" y="41879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Maintaining identical feature preprocessing and encoding pipelines between training and Streamlit deployment.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11480" y="45537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Serialized all preprocessing steps (scalers, encoders) alongside model artifacts to ensure inference parity.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736592" y="3749040"/>
            <a:ext cx="4251960" cy="1280160"/>
          </a:xfrm>
          <a:prstGeom prst="rect">
            <a:avLst/>
          </a:prstGeom>
          <a:solidFill>
            <a:srgbClr val="112240"/>
          </a:solidFill>
          <a:ln w="10160">
            <a:solidFill>
              <a:srgbClr val="00D4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840480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39512" y="3840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873752" y="41879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GRU model training time and memory requirements created practical constraints during experimentation.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4873752" y="45537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Balanced sequence length, batch size, and GRU hidden units to meet performance targets within resource limits.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85216"/>
          </a:xfrm>
          <a:prstGeom prst="rect">
            <a:avLst/>
          </a:prstGeom>
          <a:solidFill>
            <a:srgbClr val="112240"/>
          </a:solidFill>
          <a:ln w="5080">
            <a:solidFill>
              <a:srgbClr val="4A60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98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5156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implemented a Hybrid Cascaded IDS integrating behavioral feature engineering with RF → XGBoost → GRU pipeline.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636776"/>
            <a:ext cx="8595360" cy="585216"/>
          </a:xfrm>
          <a:prstGeom prst="rect">
            <a:avLst/>
          </a:prstGeom>
          <a:solidFill>
            <a:srgbClr val="112240"/>
          </a:solidFill>
          <a:ln w="5080">
            <a:solidFill>
              <a:srgbClr val="4A608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4650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72821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 pipeline transforms raw network statistics into richer representations (packet rate, flow intensity, stability, irregularity).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2313432"/>
            <a:ext cx="8595360" cy="585216"/>
          </a:xfrm>
          <a:prstGeom prst="rect">
            <a:avLst/>
          </a:prstGeom>
          <a:solidFill>
            <a:srgbClr val="112240"/>
          </a:solidFill>
          <a:ln w="5080">
            <a:solidFill>
              <a:srgbClr val="4A608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231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40487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architecture improves classification accuracy over individual models by exploiting complementary model strengths.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74320" y="2990088"/>
            <a:ext cx="8595360" cy="585216"/>
          </a:xfrm>
          <a:prstGeom prst="rect">
            <a:avLst/>
          </a:prstGeom>
          <a:solidFill>
            <a:srgbClr val="112240"/>
          </a:solidFill>
          <a:ln w="5080">
            <a:solidFill>
              <a:srgbClr val="4A608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09981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081528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model highlights importance of temporal modeling — captures sequential attack patterns missed by static classifiers.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74320" y="3666744"/>
            <a:ext cx="8595360" cy="585216"/>
          </a:xfrm>
          <a:prstGeom prst="rect">
            <a:avLst/>
          </a:prstGeom>
          <a:solidFill>
            <a:srgbClr val="112240"/>
          </a:solidFill>
          <a:ln w="5080">
            <a:solidFill>
              <a:srgbClr val="4A608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776472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3758184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remains a challenge — macro-level metrics show room for improvement on minority attack classes.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274320" y="4343400"/>
            <a:ext cx="8595360" cy="585216"/>
          </a:xfrm>
          <a:prstGeom prst="rect">
            <a:avLst/>
          </a:prstGeom>
          <a:solidFill>
            <a:srgbClr val="112240"/>
          </a:solidFill>
          <a:ln w="5080">
            <a:solidFill>
              <a:srgbClr val="4A608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453128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" y="443484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 via Streamlit demonstrates real-world applicability for enterprise, IoT gateway, and cloud security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834640" cy="47548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0515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Pipeline Integration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integrate GRU outputs into the cascaded decision pipeline for a true hybrid classifier.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27832" y="960120"/>
            <a:ext cx="283464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27832" y="960120"/>
            <a:ext cx="2834640" cy="4754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005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10515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64992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SMOTE, focal loss, or class-weighted training to improve minority attack class detection.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27064" y="960120"/>
            <a:ext cx="283464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27064" y="960120"/>
            <a:ext cx="2834640" cy="475488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0058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5704" y="10515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64224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Apache Kafka or live packet capture for continuous network monitoring vs. batch prediction.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28600" y="2926080"/>
            <a:ext cx="283464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28600" y="2926080"/>
            <a:ext cx="283464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9718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3017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3520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tuning via Bayesian optimization or grid search to maximize model performance.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27832" y="2926080"/>
            <a:ext cx="283464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27832" y="2926080"/>
            <a:ext cx="2834640" cy="47548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9718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76472" y="3017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64992" y="3520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SHAP values and feature importance analysis for interpretable decisions by security analysts.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27064" y="2926080"/>
            <a:ext cx="283464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27064" y="2926080"/>
            <a:ext cx="2834640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297180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75704" y="3017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364224" y="3520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SIEM platforms and cloud-based security systems for production-scale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2296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4114800" cy="36576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517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Kumar (231033042)  |  Shrey Dahiya (231031031)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Shivank Choudhary (231032033)  |  Arpit Sharma (231030366)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Seema Verma, Asst. Professor (Grade-I)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&amp; IT, JUIT Waknaghat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4434840"/>
            <a:ext cx="1417320" cy="457200"/>
          </a:xfrm>
          <a:prstGeom prst="rect">
            <a:avLst/>
          </a:prstGeom>
          <a:solidFill>
            <a:srgbClr val="0097B8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434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Cascade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737360" y="4434840"/>
            <a:ext cx="14173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4434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Temporal Model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4434840"/>
            <a:ext cx="141732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4434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63440" y="4434840"/>
            <a:ext cx="1417320" cy="457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4434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CIC-IoT 2023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26480" y="4434840"/>
            <a:ext cx="1417320" cy="4572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4434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Cyber Attack Detection Using Behavior Modeling</dc:title>
  <dc:subject>PptxGenJS Presentation</dc:subject>
  <dc:creator>Vansh Kumar, Shrey Dahiya, Shivank Choudhary, Arpit Sharma</dc:creator>
  <cp:lastModifiedBy>Vansh Kumar, Shrey Dahiya, Shivank Choudhary, Arpit Sharma</cp:lastModifiedBy>
  <cp:revision>1</cp:revision>
  <dcterms:created xsi:type="dcterms:W3CDTF">2026-05-04T17:33:45Z</dcterms:created>
  <dcterms:modified xsi:type="dcterms:W3CDTF">2026-05-04T17:33:45Z</dcterms:modified>
</cp:coreProperties>
</file>